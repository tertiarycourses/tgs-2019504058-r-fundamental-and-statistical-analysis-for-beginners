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406" r:id="rId157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10–14</c:v>
                </c:pt>
                <c:pt idx="1">
                  <c:v>15–19</c:v>
                </c:pt>
                <c:pt idx="2">
                  <c:v>20–24</c:v>
                </c:pt>
                <c:pt idx="3">
                  <c:v>25–29</c:v>
                </c:pt>
                <c:pt idx="4">
                  <c:v>30–34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8</c:v>
                </c:pt>
                <c:pt idx="2">
                  <c:v>12</c:v>
                </c:pt>
                <c:pt idx="3">
                  <c:v>7</c:v>
                </c:pt>
                <c:pt idx="4">
                  <c:v>3</c:v>
                </c:pt>
              </c:numCache>
            </c:numRef>
          </c:val>
        </c:ser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Value bin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Frequency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Cars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Automatic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Transmission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Number of cars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Sheet1!$A$2:$A$10</c:f>
              <c:numCache>
                <c:formatCode>General</c:formatCode>
                <c:ptCount val="9"/>
                <c:pt idx="0">
                  <c:v>1.5</c:v>
                </c:pt>
                <c:pt idx="1">
                  <c:v>1.8</c:v>
                </c:pt>
                <c:pt idx="2">
                  <c:v>2.1</c:v>
                </c:pt>
                <c:pt idx="3">
                  <c:v>2.4</c:v>
                </c:pt>
                <c:pt idx="4">
                  <c:v>2.8</c:v>
                </c:pt>
                <c:pt idx="5">
                  <c:v>3.1</c:v>
                </c:pt>
                <c:pt idx="6">
                  <c:v>3.5</c:v>
                </c:pt>
                <c:pt idx="7">
                  <c:v>3.9</c:v>
                </c:pt>
                <c:pt idx="8">
                  <c:v>4.2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36</c:v>
                </c:pt>
                <c:pt idx="1">
                  <c:v>32</c:v>
                </c:pt>
                <c:pt idx="2">
                  <c:v>29</c:v>
                </c:pt>
                <c:pt idx="3">
                  <c:v>27</c:v>
                </c:pt>
                <c:pt idx="4">
                  <c:v>23</c:v>
                </c:pt>
                <c:pt idx="5">
                  <c:v>21</c:v>
                </c:pt>
                <c:pt idx="6">
                  <c:v>19</c:v>
                </c:pt>
                <c:pt idx="7">
                  <c:v>17</c:v>
                </c:pt>
                <c:pt idx="8">
                  <c:v>15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Weight (1,000 lb)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Fuel economy (mpg)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4 cylinders</c:v>
                </c:pt>
                <c:pt idx="1">
                  <c:v>6 cylinders</c:v>
                </c:pt>
                <c:pt idx="2">
                  <c:v>8 cylinders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7</c:v>
                </c:pt>
                <c:pt idx="2">
                  <c:v>14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10–14</c:v>
                </c:pt>
                <c:pt idx="1">
                  <c:v>15–19</c:v>
                </c:pt>
                <c:pt idx="2">
                  <c:v>20–24</c:v>
                </c:pt>
                <c:pt idx="3">
                  <c:v>25–29</c:v>
                </c:pt>
                <c:pt idx="4">
                  <c:v>30–34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8</c:v>
                </c:pt>
                <c:pt idx="2">
                  <c:v>12</c:v>
                </c:pt>
                <c:pt idx="3">
                  <c:v>7</c:v>
                </c:pt>
                <c:pt idx="4">
                  <c:v>3</c:v>
                </c:pt>
              </c:numCache>
            </c:numRef>
          </c:val>
        </c:ser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Fuel economy bin (mpg)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Frequency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Ozone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Mean</c:v>
                </c:pt>
                <c:pt idx="1">
                  <c:v>Median</c:v>
                </c:pt>
                <c:pt idx="2">
                  <c:v>Trimmed mean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42.1</c:v>
                </c:pt>
                <c:pt idx="1">
                  <c:v>31.5</c:v>
                </c:pt>
                <c:pt idx="2">
                  <c:v>37.4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Summary statistic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Ozone 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Sheet1!$A$2:$A$10</c:f>
              <c:numCache>
                <c:formatCode>General</c:formatCode>
                <c:ptCount val="9"/>
                <c:pt idx="0">
                  <c:v>1.5</c:v>
                </c:pt>
                <c:pt idx="1">
                  <c:v>1.8</c:v>
                </c:pt>
                <c:pt idx="2">
                  <c:v>2.1</c:v>
                </c:pt>
                <c:pt idx="3">
                  <c:v>2.4</c:v>
                </c:pt>
                <c:pt idx="4">
                  <c:v>2.8</c:v>
                </c:pt>
                <c:pt idx="5">
                  <c:v>3.1</c:v>
                </c:pt>
                <c:pt idx="6">
                  <c:v>3.5</c:v>
                </c:pt>
                <c:pt idx="7">
                  <c:v>3.9</c:v>
                </c:pt>
                <c:pt idx="8">
                  <c:v>4.2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36</c:v>
                </c:pt>
                <c:pt idx="1">
                  <c:v>32</c:v>
                </c:pt>
                <c:pt idx="2">
                  <c:v>29</c:v>
                </c:pt>
                <c:pt idx="3">
                  <c:v>27</c:v>
                </c:pt>
                <c:pt idx="4">
                  <c:v>23</c:v>
                </c:pt>
                <c:pt idx="5">
                  <c:v>21</c:v>
                </c:pt>
                <c:pt idx="6">
                  <c:v>19</c:v>
                </c:pt>
                <c:pt idx="7">
                  <c:v>17</c:v>
                </c:pt>
                <c:pt idx="8">
                  <c:v>15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Input variable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Outcome variable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Observed p</c:v>
                </c:pt>
                <c:pt idx="1">
                  <c:v>α = 0.05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0.032</c:v>
                </c:pt>
                <c:pt idx="1">
                  <c:v>0.05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Decision quantity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Probability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weight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casein</c:v>
                </c:pt>
                <c:pt idx="1">
                  <c:v>horsebean</c:v>
                </c:pt>
                <c:pt idx="2">
                  <c:v>linseed</c:v>
                </c:pt>
                <c:pt idx="3">
                  <c:v>meatmeal</c:v>
                </c:pt>
                <c:pt idx="4">
                  <c:v>soybean</c:v>
                </c:pt>
                <c:pt idx="5">
                  <c:v>sunflower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323.6</c:v>
                </c:pt>
                <c:pt idx="1">
                  <c:v>160.2</c:v>
                </c:pt>
                <c:pt idx="2">
                  <c:v>218.8</c:v>
                </c:pt>
                <c:pt idx="3">
                  <c:v>276.9</c:v>
                </c:pt>
                <c:pt idx="4">
                  <c:v>246.4</c:v>
                </c:pt>
                <c:pt idx="5">
                  <c:v>328.9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Feed group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Mean chick weight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19504058-R-Fundamental-and-Statistical-Analysis-for-Beginner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0"/>
            <a:ext cx="653796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983480" y="0"/>
            <a:ext cx="18288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38912"/>
            <a:ext cx="749808" cy="749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554480"/>
            <a:ext cx="5212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SLIDES · WSQ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01952"/>
            <a:ext cx="5074920" cy="19385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61B26"/>
                </a:solidFill>
                <a:latin typeface="Arial"/>
              </a:rPr>
              <a:t>R Fundamental and Statistical Analysis for Beginners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968496"/>
            <a:ext cx="1417320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224528"/>
            <a:ext cx="5074920" cy="11704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Course Code: TGS-2019504058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Trainer: Dr Alfred Ang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v15.0 · 20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5074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Tertiary Infotech Academy Pte Ltd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55664"/>
            <a:ext cx="507492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AM attendance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Scan the SSG digital attendance QR code at the start of each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PM attendance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Scan again after lunch when instructed by the trainer.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Complete the separate assessment digital attendance before sitting the papers.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Requirement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At least 75% attendance and a Competent result are required for funding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3246120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3246120" cy="9144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73352" y="2212848"/>
            <a:ext cx="1371600" cy="1371600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3352" y="2212848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931920"/>
            <a:ext cx="2862072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286207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before 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737360"/>
            <a:ext cx="7168896" cy="64922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737360"/>
            <a:ext cx="73152" cy="64922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1792224"/>
            <a:ext cx="1554480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80" b="1">
                <a:solidFill>
                  <a:srgbClr val="5B6372"/>
                </a:solidFill>
                <a:latin typeface="Arial"/>
              </a:rPr>
              <a:t>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199" y="1792224"/>
            <a:ext cx="5084065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40" b="0">
                <a:solidFill>
                  <a:srgbClr val="DFE6EF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496312"/>
            <a:ext cx="7168896" cy="64922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2496312"/>
            <a:ext cx="73152" cy="64922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7136" y="2551176"/>
            <a:ext cx="1554480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80" b="1">
                <a:solidFill>
                  <a:srgbClr val="5B6372"/>
                </a:solidFill>
                <a:latin typeface="Arial"/>
              </a:rPr>
              <a:t>TITLE / DESIGNATION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199" y="2551176"/>
            <a:ext cx="5084065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40" b="0">
                <a:solidFill>
                  <a:srgbClr val="DFE6EF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255264"/>
            <a:ext cx="7168896" cy="64922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255264"/>
            <a:ext cx="73152" cy="64922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3310128"/>
            <a:ext cx="1554480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80" b="1">
                <a:solidFill>
                  <a:srgbClr val="5B6372"/>
                </a:solidFill>
                <a:latin typeface="Arial"/>
              </a:rPr>
              <a:t>QUALIFICATIONS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199" y="3310128"/>
            <a:ext cx="5084065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40" b="0">
                <a:solidFill>
                  <a:srgbClr val="DFE6EF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014216"/>
            <a:ext cx="7168896" cy="64922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4014216"/>
            <a:ext cx="73152" cy="64922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136" y="4069080"/>
            <a:ext cx="1554480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80" b="1">
                <a:solidFill>
                  <a:srgbClr val="5B6372"/>
                </a:solidFill>
                <a:latin typeface="Arial"/>
              </a:rPr>
              <a:t>AREAS OF EXPERTISE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199" y="4069080"/>
            <a:ext cx="5084065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40" b="0">
                <a:solidFill>
                  <a:srgbClr val="DFE6EF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773168"/>
            <a:ext cx="7168896" cy="64922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773168"/>
            <a:ext cx="73152" cy="64922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7136" y="4828032"/>
            <a:ext cx="1554480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80" b="1">
                <a:solidFill>
                  <a:srgbClr val="5B6372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199" y="4828032"/>
            <a:ext cx="5084065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40" b="0">
                <a:solidFill>
                  <a:srgbClr val="DFE6EF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5532120"/>
            <a:ext cx="7168896" cy="64922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5532120"/>
            <a:ext cx="73152" cy="64922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17136" y="5586984"/>
            <a:ext cx="1554480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80" b="1">
                <a:solidFill>
                  <a:srgbClr val="5B6372"/>
                </a:solidFill>
                <a:latin typeface="Arial"/>
              </a:rPr>
              <a:t>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199" y="5586984"/>
            <a:ext cx="5084065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40" b="0">
                <a:solidFill>
                  <a:srgbClr val="DFE6EF"/>
                </a:solidFill>
                <a:latin typeface="Arial"/>
              </a:rPr>
              <a:t>________________________________________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3246120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32461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73352" y="2212848"/>
            <a:ext cx="1371600" cy="13716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3352" y="2212848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931920"/>
            <a:ext cx="2862072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286207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Principal Trainer · Data Science &amp;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737360"/>
            <a:ext cx="7168896" cy="64922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737360"/>
            <a:ext cx="73152" cy="6492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1792224"/>
            <a:ext cx="1554480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8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199" y="1792224"/>
            <a:ext cx="5084065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40" b="0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496312"/>
            <a:ext cx="7168896" cy="64922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2496312"/>
            <a:ext cx="73152" cy="649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7136" y="2551176"/>
            <a:ext cx="1554480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8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199" y="2551176"/>
            <a:ext cx="5084065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4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255264"/>
            <a:ext cx="7168896" cy="64922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255264"/>
            <a:ext cx="73152" cy="6492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3310128"/>
            <a:ext cx="1554480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8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199" y="3310128"/>
            <a:ext cx="5084065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40" b="0">
                <a:solidFill>
                  <a:srgbClr val="161B26"/>
                </a:solidFill>
                <a:latin typeface="Arial"/>
              </a:rPr>
              <a:t>Ph.D. in Operations Research · ACTA/ACLP training experience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014216"/>
            <a:ext cx="7168896" cy="64922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4014216"/>
            <a:ext cx="73152" cy="6492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136" y="4069080"/>
            <a:ext cx="1554480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8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199" y="4069080"/>
            <a:ext cx="5084065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40" b="0">
                <a:solidFill>
                  <a:srgbClr val="161B26"/>
                </a:solidFill>
                <a:latin typeface="Arial"/>
              </a:rPr>
              <a:t>R, statistics, analytics, AI and optimisation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773168"/>
            <a:ext cx="7168896" cy="64922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773168"/>
            <a:ext cx="73152" cy="6492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7136" y="4828032"/>
            <a:ext cx="1554480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8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199" y="4828032"/>
            <a:ext cx="5084065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40" b="0">
                <a:solidFill>
                  <a:srgbClr val="161B26"/>
                </a:solidFill>
                <a:latin typeface="Arial"/>
              </a:rPr>
              <a:t>University, professional training and analytics consultancy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5532120"/>
            <a:ext cx="7168896" cy="64922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5532120"/>
            <a:ext cx="73152" cy="649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17136" y="5586984"/>
            <a:ext cx="1554480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8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199" y="5586984"/>
            <a:ext cx="5084065" cy="5394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4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You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Name, role and organisation.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Your prior exposure to data, spreadsheets or code.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Question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One statistical question you would like R to answer.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One practical capability you want by Day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Be present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Return from breaks on time and meet the attendance requirement.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Try the code, ask questions and share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One conversation at a time; disagree with ideas, not people.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Protect focus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Set devices to silent and step out quietly when necessary.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Analysis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084831"/>
            <a:ext cx="1960473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32303"/>
            <a:ext cx="676656" cy="67665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the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0281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8881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38881" y="2084831"/>
            <a:ext cx="1960473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0789" y="2432303"/>
            <a:ext cx="676656" cy="67665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0789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6897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 and prepare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9354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7954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7954" y="2084831"/>
            <a:ext cx="1960473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69862" y="2432303"/>
            <a:ext cx="676656" cy="67665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9862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5970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Analyse and visualise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8427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7027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7027" y="2084831"/>
            <a:ext cx="1960473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8935" y="2432303"/>
            <a:ext cx="676656" cy="6766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8935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5043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Validate assumptions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7500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6100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6100" y="2084831"/>
            <a:ext cx="1960473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48008" y="2432303"/>
            <a:ext cx="676656" cy="67665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8008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4116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Communicate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1371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Install R and RStudio IDE and work confidently with scripts, the console and help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1371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Select, create, inspect and manipulate R data types and data structures.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291840"/>
            <a:ext cx="5230368" cy="1371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3291840"/>
            <a:ext cx="73152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51129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511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38144"/>
            <a:ext cx="4206240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R packages and datasets and import, validate and export external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291840"/>
            <a:ext cx="5230368" cy="1371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3291840"/>
            <a:ext cx="73152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351129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511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3438144"/>
            <a:ext cx="4206240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Create and interpret appropriate data visualisations in 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4864608"/>
            <a:ext cx="5230368" cy="1371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8" y="4864608"/>
            <a:ext cx="73152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0120" y="5084064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08406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1056" y="5010912"/>
            <a:ext cx="4206240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Write R programs using conditions, loops and reusable functions.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4864608"/>
            <a:ext cx="5230368" cy="1371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4864608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5084064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08406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77456" y="5010912"/>
            <a:ext cx="4206240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LO6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Apply descriptive statistics, correlation, regression, hypothesis testing and ANOVA in 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16 HOURS · 2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 ·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09:00–18:00
Topics 1–4: environment, data structures, packages/data I/O and visualisation.
Labs 1–8 with breaks and lunch.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 · PROGRAMMING &amp; STATISTICS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09:00–15:40 teaching and Labs 9–12.
15:40–18:00 final assessment: WA 60 min + Case Study 80 min.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Individual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No discussion, photos or recording of assessment scripts.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the slides, Learner Guide and approved materials only.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Complete the provided document and upload it to the LMS.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Conduct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Place phones away; use black/blue pen for hard copy; no correction fluid.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OPEN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Written Assessment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7 open-ended SAQs · K1–K7 · 60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Case Study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6 open-ended tasks · A1–A10 · 80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Assessment result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Competent (C) or Not Yet Competent (NYC); reassessment and appeal pathways apply.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Funding condition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At least 75% digital attendance and a Competent result.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084831"/>
            <a:ext cx="1960473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32303"/>
            <a:ext cx="676656" cy="67665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/ SSG QR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0281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8881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38881" y="2084831"/>
            <a:ext cx="1960473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0789" y="2432303"/>
            <a:ext cx="676656" cy="67665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0789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6897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9354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7954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7954" y="2084831"/>
            <a:ext cx="1960473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69862" y="2432303"/>
            <a:ext cx="676656" cy="67665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9862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5970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 then Case Study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8427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7027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7027" y="2084831"/>
            <a:ext cx="1960473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8935" y="2432303"/>
            <a:ext cx="676656" cy="6766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8935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5043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Upload answers to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7500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6100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6100" y="2084831"/>
            <a:ext cx="1960473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48008" y="2432303"/>
            <a:ext cx="676656" cy="67665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8008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4116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LEARNER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OPTION A · CLONE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git clone https://github.com/tertiarycourses/TGS-2019504058-R-Fundamental-and-Statistical-Analysis-for-Beginners.git
Open the labs/ folder in RStudio.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OPTION B ·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the GitHub repository, choose Code → Download ZIP, extract it, then open the lab folder.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5559552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Open the GitHub lab repository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SOURCE-ALIGNED REBUILD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 Source and Design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Legacy coverage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The v14 deck and original exercise pack are the approved instructional baseline.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Current outline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The live course page confirms 2 days, 16 hours, six learning outcomes and six topics.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Current design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Every slide is rebuilt with editable visual components; the legacy theme is not copied.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Procedure boundary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Detailed steps live in the Learner Guide and lab folders; slides teach concepts and decisions.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56231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04288"/>
            <a:ext cx="9784080" cy="11430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Getting Started in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657600"/>
            <a:ext cx="9235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R · RStudio · scripts · comments · help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512064"/>
            <a:ext cx="1874519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DFE6E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An open-source language and environment for statistical computing, graphics and reproducible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Objects live in memory; functions transform them; scripts preserve the exact sequence of 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R when the task combines data preparation, statistical reasoning, visualisation and repeatable reporting.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 is case-sensitive: mean(x) and Mean(x) are different names.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What is 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script turns an interactive calculation into an auditable analysis.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x &lt;- c(12, 15, 18)
mean(x)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Install R and 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 is the computation engine; RStudio is an integrated development environment that makes the engine easier to 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Install R first, then RStudio Desktop. RStudio detects the installed R version.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Confirm both versions and keep packages in a user library that you can update.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Installing only RStudio does not install the R engine.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Install R and RStudio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 the engine before troubleshooting packages or scripts.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R.version.string
R.home()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RStudio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The Source, Console, Environment/History and Files/Plots/Packages/Help panes separate authoring, execution, objects and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Write durable code in Source; execute selected lines; inspect objects and plots without mixing them into the script.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Save the project and script before running a new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Commands typed only in Console are easy to lose and difficult to audit.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RStudio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the Source pane as the record of analysis; use the Console as feedback.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getwd()
ls()
objects()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 Scripts and Comments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An .R script is a plain-text program containing valid R expressions and comments.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Run one line, a selection or the whole script. Use # to explain intent and assumptions.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Organise scripts into setup, import, validation, analysis, visualisation and export sections.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Comments should explain why a choice was made, not merely repeat the code.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R Scripts and Comments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Readable scripts are easier to review, rerun and repair.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# Average valid measurements
avg &lt;- mean(x, na.rm = TRUE)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Help and Self-Diagnosis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 includes searchable documentation, examples and object inspection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help(), ?, args(), example(), str() and traceback() to move from symptom to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Inspect the function signature and the object structure before changing code.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Copying an online snippet without checking the installed package version can create silent mismatches.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Help and Self-Diagnosis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Good R users do not memorise everything; they diagnose efficiently.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help("plot")
args(mean)
str(mtcars)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FOUNDATION · HANDS-ON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1: Your First Reproducible R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training coordinator needs a repeatable summary of course attendance.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saved .R script that creates, summarises and exports attendance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Concepts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objects, assignment, Source vs Console, comments, help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Mapping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LO1 · K4 · A2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Script runs from a clean R session without manual Console steps.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Summary excludes the missing value and reports the expected valid count.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Evidence sheet records the output filename and verification result.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Detailed procedure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Follow the Learner Guide and labs/lab-01-rstudio-first-script/README.pdf. No click-by-click steps are placed in these slides.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FOUNDATION · HANDS-ON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2: Help, Objects and Session Diagnostics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colleague's script fails because an object and function call are misunderstood.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diagnostic R script and evidence log explaining the root cause.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Concepts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help, args, str, class, sessionInfo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Mapping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LO1 · K4 · A2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Diagnostics identify the missing argument or wrong object 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Corrected expression returns the expected value.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Session information is captured for reproducibility.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Detailed procedure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Follow the Learner Guide and labs/lab-02-help-session-diagnostics/README.pdf. No click-by-click steps are placed in these slides.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K4 · A2 ·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Topic 01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Describe the central ideas in Getting Started in R using precise R/statistical language.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Choose the relevant R structure, function, chart or statistical method for the question.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Validate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Check object structure, missingness, assumptions and output before interpreting.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Save the script, workbook and verification result in the matching lab folder.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56231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K3 · K6 · K7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04288"/>
            <a:ext cx="9784080" cy="11430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Data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657600"/>
            <a:ext cx="9235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atomic values · vectors · matrices · arrays · data frames · lists · factors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512064"/>
            <a:ext cx="1874519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DFE6EF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K6 · K7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Atomic Values and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 stores logical, integer, double, complex, character and raw atomic values.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Assignment binds a name to a value; typeof(), class() and str() expose different aspects of the object.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descriptive snake_case names and explicit conversion at system boundaries.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Coercion can change the entire vector when one incompatible value is added.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Atomic Values and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Type is a property of the object, not the variable 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count &lt;- 12L
rate &lt;- 0.35
label &lt;- "May"
typeof(rate)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K6 · K7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Character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Character vectors hold text; quotes delimit values and escaping represents special characters.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paste(), paste0(), nchar(), substr(), strsplit() and gsub() create, inspect and transform strings.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factors for repeated categorical levels; keep free text as character.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missing value NA is not the same as the literal string "NA".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Character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Text cleaning should preserve meaning while making categories consistent.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email &lt;- "learner@example.com"
parts &lt;- strsplit(email, "@")[[1]]
paste(parts, collapse = " at 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K6 · K7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Vectors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vector is a one-dimensional, homogeneous sequence and the foundation of R computation.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c(), :, seq() and rep() create vectors; vectorised operators act element by element.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Prefer vectorised operations for clarity and performance when every element follows the same rule.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Recycling a shorter vector may produce a result that runs but is conceptually wrong.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Vectors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Think in complete columns rather than one cell at a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scores &lt;- c(72, 84, 91, 67)
scaled &lt;- scores / 100
mean(scaled)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K6 · K7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Indexing and Missing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Square brackets select by position, name or logical condition; negative indices exclude.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is.na() identifies missing values and na.rm = TRUE tells many summaries to omit them.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Make the missing-data rule explicit before calculating a statistic.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Comparing x == NA never identifies missing values; use is.na(x).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Indexing and Missing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Filtering is part of the analysis logic and must be documented.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x &lt;- c(4, NA, 9, -2, 7)
x[!is.na(x) &amp; x &gt; 0]
mean(x, na.rm = TRUE)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K6 · K7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Vector Statistics and Arithmetic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Summary functions collapse a vector; cumulative functions preserve a running path.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mean, median, sum, min, max, quantile, sort, diff, cumsum and rank answer different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Choose robust summaries such as median and IQR when outliers distort the mean.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plausible number can still answer the wrong statistical question.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Vector Statistics and Arithmetic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810512"/>
          <a:ext cx="7406640" cy="4242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58200" y="1810512"/>
            <a:ext cx="2999232" cy="42428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2066543"/>
            <a:ext cx="246888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READ THE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670048"/>
            <a:ext cx="2468880" cy="2423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Compare location and spread before making a claim about typical values.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5358384"/>
            <a:ext cx="24688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Native chart · editable data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K6 · K7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Matrices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matrix is a two-dimensional homogeneous object with rows and columns.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matrix(), rbind() and cbind() construct matrices; [row, column] selects elements.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matrices for numeric linear algebra; use data frames for mixed-type records.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 fills a matrix by column unless byrow = TRUE is specified.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Matrices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Always state the dimension and fill direction when constructing a matrix.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m &lt;- matrix(1:12, nrow = 3, byrow = TRUE)
m[2, ]
m[, 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K6 · K7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An array generalises a matrix to three or more dimensions while keeping one atomic 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dim specifies the length of each axis; commas separate the indices for each dimension.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an array for regularly shaped repeated measurements such as site × metric × month.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Without dimension names, slices are difficult to interpret and easy to transpose.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Name dimensions whenever an axis carries business meaning.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a &lt;- array(1:18, dim = c(3, 2, 3))
a[, , 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K6 · K7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data frame is a two-dimensional table whose columns may have different types but equal length.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$`, [[ ]] and [rows, columns] access data; head(), tail(), names(), str() and summary() reveal structure.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a data frame for observational records such as one row per person or day.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Row names are labels, not a reliable database key.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Data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Inspect column names and types before filtering or modelling.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cars &lt;- mtcars
small &lt;- cars[c("mpg", "am", "wt")]
head(small)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K6 · K7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Filtering and Subsetting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Logical expressions select rows that meet one or more conditions.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&amp;, | and ! element-wise; subset() can improve readability for simple interactive tasks.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Store complex conditions in named variables so the rule can be reviewed.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&amp;&amp; and || examine only the first element and are normally wrong for row filtering.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Filtering and Subsetting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filter is a business rule expressed as code.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keep &lt;- mtcars$mpg &gt; 15 &amp; mtcars$am == 1
result &lt;- mtcars[keep, c("mpg", "am", "wt")]
summary(result)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K6 · K7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list can hold objects of different types, sizes and shapes.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list() creates; [[ ]] extracts one element; [ ] returns a sub-list; $ accesses a named element.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lists for model results, nested configuration and heterogeneous outputs.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Confusing [ ] with [[ ]] often leaves a list where a vector or model was expected.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Lists let one analysis result carry data, model and diagnostics together.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result &lt;- list(data = mtcars, model = lm(mpg ~ wt, mtcars))
coef(result$model)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K6 · K7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factor represents categorical data as a fixed set of levels.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factor() defines levels and order; table() counts; relevel() changes the reference category.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factors when a category will drive grouping, plotting or a statistical model.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Unused or misspelled levels can change plots and model coefficients.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810512"/>
          <a:ext cx="7406640" cy="4242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58200" y="1810512"/>
            <a:ext cx="2999232" cy="42428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2066543"/>
            <a:ext cx="246888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READ THE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670048"/>
            <a:ext cx="2468880" cy="2423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Factor levels encode meaning, not just display order.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5358384"/>
            <a:ext cx="24688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Native chart · editable data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K6 · K7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Choosing the Right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Shape, type consistency and access pattern determine the correct R structure.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Vector: 1D homogeneous; matrix/array: regular homogeneous dimensions; data frame: tabular mixed types; list: heterogeneous nesting.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Select the simplest structure that faithfully represents the data and intended operation.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Forcing mixed data into a matrix coerces every value to a common type.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Choosing the Right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Data structure is an analytical design decision.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objects &lt;- list(vector=1:3, matrix=matrix(1:4,2), frame=mtcars[1:2,1:3])
lapply(objects, class)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FOUNDATION · HANDS-ON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3: Vectors, Indexing and Missing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An operations analyst must clean sensor readings before reporting an average.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clean vector, filtered subset and robust summary 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Concepts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vectors, logical indexing, NA, mean, median, IQR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Mapping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LO2 · K3 · A5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No invalid or missing reading enters the final mean.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Mean, median and IQR match the expected values.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All filtering rules are visible in the R script.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Detailed procedure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Follow the Learner Guide and labs/lab-03-vectors-indexing-missing/README.pdf. No click-by-click steps are placed in these slides.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FOUNDATION · HANDS-ON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4: Data Structures and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fleet analyst needs the correct R structure for mixed vehicle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typed data frame, a matrix slice and a factor frequency 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Concepts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matrix, data frame, list, factor, subsetting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Mapping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LO2 · K3 · A5 · A9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Matrix contains only numeric values and has the expected dimensions.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Data frame preserves column types.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Factor levels and counts are explicit and correct.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Detailed procedure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Follow the Learner Guide and labs/lab-04-structures-factors/README.pdf. No click-by-click steps are placed in these slides.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K3 · K6 · K7 · A5 · A9 ·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Topic 02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Describe the central ideas in Data Types using precise R/statistical language.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Choose the relevant R structure, function, chart or statistical method for the question.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Validate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Check object structure, missingness, assumptions and output before interpreting.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Save the script, workbook and verification result in the matching lab folder.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56231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K3 · K6 · A2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04288"/>
            <a:ext cx="9784080" cy="11430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R Packages and Data I/O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657600"/>
            <a:ext cx="9235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packages · built-in datasets · working directories · CSV/Excel · validation ·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512064"/>
            <a:ext cx="1874519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DFE6EF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K3 · K6 · A2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Packages and Libraries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package bundles functions, data and documentation; a library is the installed location and attached package set.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install.packages() installs once; library() attaches per session; package::function calls explicitly.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Prefer explicit package::function in shared scripts when function names may collide.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Running install.packages() on every execution slows work and can change the environment unexpectedly.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Packages and Libraries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Separate environment setup from analysis execution.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if (!requireNamespace("readxl", quietly=TRUE)) install.packages("readxl")
library(readxl)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K3 · K6 · A2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Built-in Datasets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 ships documented datasets such as mtcars, quakes, sleep and chickwts for reproducible examples.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data() lists available data; ?mtcars explains variables; str() validates structure.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Read the dataset documentation before interpreting a column or unit.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Familiarity with a dataset name does not replace checking its definitions.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Built-in Datasets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Metadata is part of the dataset.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data(mtcars)
?mtcars
str(mtcars)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K3 · K6 · A2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Working Directory and Paths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The working directory is the base location used by relative file paths.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getwd() reports it; RStudio Projects make it stable; file.path() builds portable paths.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Prefer project-relative paths and avoid setwd() inside reusable scripts.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Absolute user-specific paths break when another learner runs the script.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Working Directory and Paths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Portable paths are essential for reproducible course labs.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input_path &lt;- file.path("data", "weather.csv")
file.exists(input_path)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K3 · K6 · A2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 and Validate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Import converts external bytes into an R object; validation confirms that the object matches the analysis contract.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Read, inspect names/types/dimensions, check missingness and ranges, then analyse.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Stop early when required columns or valid ranges are absent.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successful read is not proof that dates, categories or numbers were parsed correctly.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Import and Validate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Validation protects every downstream chart and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weather &lt;- read.csv("weather.csv", stringsAsFactors=FALSE)
stopifnot(all(c("Month","Ozone") %in% names(weather)))
summary(weather)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K3 · K6 · A2 · A5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Export and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Export writes analysis results in a shareable format while preserving an audit trail.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write.csv() writes tables; saveRDS() preserves one R object; save() preserves multiple objects.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Export only the fields needed by the recipient and record the row count and timestamp.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Writing row names to CSV by default creates an unwanted first column.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Export and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 export should be traceable back to its input and script.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write.csv(result, "analysis_output.csv", row.names=FALSE)
saveRDS(result, "analysis_output.rds")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INTERMEDIATE · HANDS-ON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5: Packages and Built-in Datasets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junior analyst must document a reproducible package and dataset setup.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setup script and mtcars/quakes data profile.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Concepts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packages, namespaces, documentation, str, summary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Mapping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LO3 · K3 · A2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Script uses requireNamespace() before optional installation.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Data profile reports correct dimensions.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Package and R versions are recorded.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Detailed procedure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Follow the Learner Guide and labs/lab-05-packages-built-in-data/README.pdf. No click-by-click steps are placed in these slides.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INTERMEDIATE · HANDS-ON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6: Import, Validate and Export Weather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public-environment team needs a defensible May ozone summary.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validated weather dataset and audit-ready summary export.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Concepts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paths, CSV/Excel import, validation, export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Mapping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LO3 · K6 · A2 · A5 · A9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6: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Validation stops the script if a required column is absent.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May average uses only non-missing ozone records.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Export contains source row count and analysis timestamp.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Detailed procedure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Follow the Learner Guide and labs/lab-06-import-validate-export/README.pdf. No click-by-click steps are placed in these slides.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K3 · K6 · A2 · A5 · A9 ·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Topic 03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Describe the central ideas in R Packages and Data I/O using precise R/statistical language.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Choose the relevant R structure, function, chart or statistical method for the question.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Validate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Check object structure, missingness, assumptions and output before interpreting.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Save the script, workbook and verification result in the matching lab folder.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56231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K3 · K5 · A3 · A4 · A7 · A10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04288"/>
            <a:ext cx="9784080" cy="11430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Data Visualisation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657600"/>
            <a:ext cx="9235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scatter · line · boxplot · bar · pie · histogram ·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512064"/>
            <a:ext cx="1874519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DFE6EF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K3 · K5 · A3 · A4 · A7 · A10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Chart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chart is a visual answer to a specific analytical question, not decoration.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Relationship → scatter; trend → line; distribution → histogram/boxplot; category comparison → bar.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Choose the visual encoding that makes the comparison easiest and most accurate.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Starting with a preferred chart type can hide the structure of the data.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Chart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State the question first, then choose the chart.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plot(mpg ~ wt, data=mtcars, pch=19, col="#1F6FEB")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K3 · K5 · A3 · A4 · A7 · A10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Scatter and Line Plots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Scatter plots reveal association between two numeric variables; lines emphasise ordered progression.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plot(x,y) creates points; lines() or type='l' connects an ordered series.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Do not connect unordered observations because the line implies sequence.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Association does not prove causation, even when the point cloud is tight.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Scatter and Line Plots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810512"/>
          <a:ext cx="7406640" cy="4242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1" name="Connector 10"/>
          <p:cNvCxnSpPr/>
          <p:nvPr/>
        </p:nvCxnSpPr>
        <p:spPr>
          <a:xfrm>
            <a:off x="1444752" y="2788920"/>
            <a:ext cx="5824728" cy="1984248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58200" y="1810512"/>
            <a:ext cx="2999232" cy="42428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066543"/>
            <a:ext cx="246888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READ THE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670048"/>
            <a:ext cx="2468880" cy="2423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Read direction, form, strength and unusual 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5358384"/>
            <a:ext cx="24688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Native chart · editable data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K3 · K5 · A3 · A4 · A7 · A10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Multiple Scatter Plots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scatterplot matrix compares every pair among several numeric variables.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plot(data_frame) creates the matrix; consistent scales and labels support scanning.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it for exploration, then focus the final story on the most decision-relevant pair.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dense matrix becomes unreadable when too many variables are included.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Multiple Scatter Plots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Exploration can be broad; communication should be selective.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plot(mtcars[c("mpg","disp","hp","wt")])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K3 · K5 · A3 · A4 · A7 · A10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Boxplots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boxplot summarises median, quartiles, spread and potential outliers across groups.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The box spans Q1–Q3, the line marks the median and whiskers extend using the 1.5×IQR convention.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a boxplot to compare group distributions, not merely their means.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small group can look deceptively stable; always inspect sample size.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Boxplots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Compare centre, spread, overlap and unusual observations.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boxplot(weight ~ feed, data=chickwts, col="#10B981", las=2)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K3 · K5 · A3 · A4 · A7 · A10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Bar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Bar charts compare values or counts across discrete categories from a common zero baseline.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table() creates counts; barplot() maps magnitude to bar length.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Sort bars when order is not inherent and keep the baseline at zero.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Using bars for continuous distributions hides shape and variation.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Bar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Bar length is precise; decorative 3D effects are not.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counts &lt;- table(mtcars$am)
barplot(counts, names.arg=c("Automatic","Manual"))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K3 · K5 · A3 · A4 · A7 · A10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Pie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pie chart encodes parts of a whole as angles and areas.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Counts are converted to proportions that sum to 100%.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only for a few categories with a clear whole; prefer bars for close comparisons.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Too many slices and similar sizes make ranking difficult.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Pie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810512"/>
          <a:ext cx="7406640" cy="4242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58200" y="1810512"/>
            <a:ext cx="2999232" cy="42428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2066543"/>
            <a:ext cx="246888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READ THE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670048"/>
            <a:ext cx="2468880" cy="2423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a pie only when the part-to-whole message matters.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5358384"/>
            <a:ext cx="24688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Native chart · editable data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K3 · K5 · A3 · A4 · A7 · A10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Histograms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histogram groups continuous observations into bins to reveal distribution shape.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Breaks control bin boundaries; frequency or density controls the vertical scale.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Try defensible bin widths and report the choice when it affects the story.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single bin setting can create or hide apparent peaks.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Histograms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810512"/>
          <a:ext cx="7406640" cy="4242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58200" y="1810512"/>
            <a:ext cx="2999232" cy="42428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2066543"/>
            <a:ext cx="246888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READ THE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670048"/>
            <a:ext cx="2468880" cy="2423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Read centre, spread, skew, modes and unusual gaps.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5358384"/>
            <a:ext cx="24688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Native chart · editable data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INTERMEDIATE · HANDS-ON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7: Base R Chart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transport team needs three views of fuel-economy and transmission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scatter plot, bar chart and histogram saved as PNG files.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Concepts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scatter, bar, histogram, labels, interpretation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Mapping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LO4 · K3 · A3 · A4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Each chart answers a distinct question.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Axes, units and categories are readable.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Interpretations describe evidence without claiming causation.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Detailed procedure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Follow the Learner Guide and labs/lab-07-base-r-chart-selection/README.pdf. No click-by-click steps are placed in these slides.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INTERMEDIATE · HANDS-ON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8: Compare Distributions with Boxplots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An agriculture team compares chick weights across feed groups.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grouped boxplot, descriptive table and visual interpretation.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Concepts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boxplot, quartiles, outliers, group comparison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Mapping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LO4 · K5 · A3 · A4 · A7 · A10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8: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Boxplot includes every feed group.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Summary table agrees with the plotted medians and spread.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Interpretation distinguishes observation from causal claim.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Detailed procedure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Follow the Learner Guide and labs/lab-08-distribution-comparison/README.pdf. No click-by-click steps are placed in these slides.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K3 · K5 · A3 · A4 · A7 · A10 ·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Topic 04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Describe the central ideas in Data Visualisation using precise R/statistical language.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Choose the relevant R structure, function, chart or statistical method for the question.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Validate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Check object structure, missingness, assumptions and output before interpreting.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Save the script, workbook and verification result in the matching lab folder.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56231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· K6 · K7 · A7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04288"/>
            <a:ext cx="9784080" cy="11430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R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657600"/>
            <a:ext cx="9235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conditions · loops · next/break · operators · functions · arguments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512064"/>
            <a:ext cx="1874519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DFE6EF"/>
                </a:solidFill>
                <a:latin typeface="Arial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K6 · K7 · A7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if and else choose which block of code runs based on one TRUE/FALSE condition.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Evaluate a scalar condition; run the first matching branch; use ifelse() for vectorised element-wise choices.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Make branches mutually understandable and test boundary values.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Using a vector condition in if() checks only length-one logic and may error.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05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condition converts a rule into an explicit decision.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risk &lt;- 0.72
label &lt;- if (risk &gt;= 0.7) "High" else "Review"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K6 · K7 · A7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While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while loop repeats as long as its condition remains TRUE.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Initialise state, test the condition, perform work, then update state.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when the number of repetitions is not known in advance.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If state never changes, the loop can run forever.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05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While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Every while loop needs a clear exit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x &lt;- 1
while (x &lt;= 5) {
  print(x)
  x &lt;- x + 1
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K6 · K7 · A7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For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for loop processes each element of a known sequence.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The loop variable takes one value at a time; results should normally be preallocated.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a loop when each iteration has stateful or multi-step logic that is clearer than vectorisation.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Growing an object repeatedly inside the loop is inefficient.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05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For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Clarity matters more than avoiding loops at all costs.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out &lt;- numeric(5)
for (i in seq_along(out)) {
  out[i] &lt;- i^2
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K6 · K7 · A7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next and break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next skips the remainder of the current iteration; break exits the loop completely.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Both alter control flow and should sit beside a clearly stated condition.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next for invalid records; use break when the goal has been reached or continued work is unsafe.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An early exit without a message can make missing output look like a successful run.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05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next and break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Explain why records are skipped or processing stops.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for (x in c(3, NA, 7, 12)) {
  if (is.na(x)) next
  if (x &gt; 10) break
  print(x)
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K6 · K7 · A7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Arithmetic, comparison and logical operators form expressions that transform data and test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+ - * / ^ %%, comparisons, and element-wise &amp;, |, !; parentheses make precedence explicit.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Vectorised logical operators are normally required for data filtering.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Floating-point equality can fail due to representation; compare with a tolerance.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05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Readable expressions reduce logical defects.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keep &lt;- !is.na(mtcars$mpg) &amp; mtcars$mpg &gt;= 20
mtcars[keep,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K6 · K7 · A7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Functions and Arguments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function packages reusable behaviour behind named inputs and a return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function(...) defines; default and named arguments make calls flexible; ... forwards optional arguments.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a function when the same transformation appears twice or needs its own test.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missing required argument causes an error; a bad default can hide an assumption.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05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Functions and Arguments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small, focused function is easier to test than repeated code.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summarise_scores &lt;- function(x, trim=0) {
  mean(x, trim=trim, na.rm=TRUE)
}
summarise_scores(c(1,2,100), trim=.1)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INTERMEDIATE · HANDS-ON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9: Conditions, Loops, next and break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quality team scans daily temperatures and handles invalid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controlled processing loop with an exception log.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Concepts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if/else, for, while, next, break, logical operators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Mapping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LO5 · K6 · A7 · A9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9: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Missing values are skipped and counted.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Safety stop is explicit and testable.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Loop and vectorised count agree before the stop point.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Detailed procedure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Follow the Learner Guide and labs/lab-09-conditions-loops/README.pdf. No click-by-click steps are placed in these slides.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INTERMEDIATE · HANDS-ON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10: Build and Test Reusable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game-based learning team needs a reliable two-dice simulator and summary function.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Two documented functions with deterministic tests.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Concepts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functions, default arguments, named arguments, ..., set.seed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Mapping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LO5 · K7 · A7 · A9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10: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Invalid n or sides values stop with clear messages.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Default and named argument calls both 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Tests are reproducible under the recorded seed.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Detailed procedure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Follow the Learner Guide and labs/lab-10-reusable-functions/README.pdf. No click-by-click steps are placed in these slides.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K6 · K7 · A7 · A9 ·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Topic 05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Describe the central ideas in R Programming using precise R/statistical language.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Choose the relevant R structure, function, chart or statistical method for the question.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Validate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Check object structure, missingness, assumptions and output before interpreting.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Save the script, workbook and verification result in the matching lab folder.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56231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06 · K1 · K2 · K5 · A1 · A3 · A4 · A6 · A7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04288"/>
            <a:ext cx="9784080" cy="11430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Statistical Analysis with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657600"/>
            <a:ext cx="9235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descriptive statistics · correlation · regression · tests · ANOVA · diagnostics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512064"/>
            <a:ext cx="1874519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DFE6EF"/>
                </a:solidFill>
                <a:latin typeface="Arial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06 · K1 · K2 · K5 · A1 · A3 · A4 · A6 · A7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Descriptive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Descriptive statistics summarise observed data without generalising beyond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Location: mean/median; spread: range/IQR/SD; shape: skew and unusual values; counts: n and missingness.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Report centre, spread and valid sample size together.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Averages without context can conceal missing data or a highly skewed distribution.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Descriptive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810512"/>
          <a:ext cx="7406640" cy="4242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58200" y="1810512"/>
            <a:ext cx="2999232" cy="42428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2066543"/>
            <a:ext cx="246888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READ THE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670048"/>
            <a:ext cx="2468880" cy="2423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Describe the data before modelling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5358384"/>
            <a:ext cx="24688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Native chart · editable data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06 · K1 · K2 · K5 · A1 · A3 · A4 · A6 · A7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Trimmed Mean and Robustness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trimmed mean removes equal proportions from both tails before averaging.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Increasing trim reduces the influence of extreme values while still using more information than the median.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a robust summary when outliers are plausible but should not dominate the typical value.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Trimming should be justified and cannot replace investigating data quality.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06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Trimmed Mean and Robustness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Robustness is a deliberate trade-off between sensitivity and stability.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ozone &lt;- airquality$Ozone
c(mean=mean(ozone,na.rm=TRUE), trim10=mean(ozone,trim=.1,na.rm=TRUE), median=median(ozone,na.rm=TRUE))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06 · K1 · K2 · K5 · A1 · A3 · A4 · A6 · A7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Correlation measures the strength and direction of a linear relationship between two numeric variables.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Pearson r ranges from -1 to +1; sign gives direction and magnitude gives linear strength.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Inspect a scatter plot and outliers before interpreting 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Correlation does not establish causation and may miss non-linear relationships.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810512"/>
          <a:ext cx="7406640" cy="4242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1" name="Connector 10"/>
          <p:cNvCxnSpPr/>
          <p:nvPr/>
        </p:nvCxnSpPr>
        <p:spPr>
          <a:xfrm>
            <a:off x="1444752" y="2788920"/>
            <a:ext cx="5824728" cy="1984248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58200" y="1810512"/>
            <a:ext cx="2999232" cy="42428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066543"/>
            <a:ext cx="246888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READ THE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670048"/>
            <a:ext cx="2468880" cy="2423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negative r means one variable tends to decrease as the other increases.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5358384"/>
            <a:ext cx="24688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Native chart · editable data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06 · K1 · K2 · K5 · A1 · A3 · A4 · A6 · A7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Linear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Simple linear regression estimates a line that predicts an outcome from one input.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lm(y ~ x) estimates intercept and slope by minimising squared residuals.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when the relationship is plausibly linear and diagnostics support the assumptions.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Extrapolating beyond the observed x range can produce implausible predictions.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06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Linear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slope quantifies the expected change in y for one unit of 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model &lt;- lm(mpg ~ wt, data=mtcars)
coef(model)
predict(model, data.frame(wt=3))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06 · K1 · K2 · K5 · A1 · A3 · A4 · A6 · A7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Residuals and Mean Squared 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residual is observed minus predicted; MSE averages squared prediction errors.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Squaring makes errors positive and penalises large misses more strongly.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Inspect residual plots as well as one error metric.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low training MSE does not guarantee accurate new predictions.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06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Residuals and Mean Squared 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Residual patterns reveal model problems that one score can hide.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model &lt;- lm(mpg ~ wt, mtcars)
res &lt;- residuals(model)
mean(res^2)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06 · K1 · K2 · K5 · A1 · A3 · A4 · A6 · A7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Regression Diagnostics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Diagnostics test whether the linear model is an adequate representation of the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Check linearity, constant variance, normality of residuals and influential observations.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Change the model or interpretation when assumptions fail materially.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significant coefficient is not proof that the full model is useful.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06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Regression Diagnostics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Diagnose unintended outcomes before trusting a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model &lt;- lm(mpg ~ wt, mtcars)
par(mfrow=c(2,2))
plot(model)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06 · K1 · K2 · K5 · A1 · A3 · A4 · A6 · A7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Multiple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Multiple regression predicts one outcome from several inputs and can include interactions.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Each coefficient is conditional on the other variables; x1:x2 represents an interaction.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Choose predictors from the question and domain logic, not only automated significance.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Highly correlated predictors make coefficients unstable and difficult to interpret.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06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Multiple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More predictors do not automatically mean a better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model &lt;- lm(mpg ~ wt + hp + disp + wt:hp, mtcars)
summary(model)
predict(model, data.frame(wt=2.6,hp=110,disp=160))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06 · K1 · K2 · K5 · A1 · A3 · A4 · A6 · A7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R-squared and Model 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R-squared is the proportion of observed outcome variance explained by the fitted model in the sample.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Adjusted R-squared penalises unnecessary predictors; both must be read with residual diagnostics.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Judge usefulness against the decision context, not a universal threshold.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high R-squared can coexist with bias, leakage or poor out-of-sample performance.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06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R-squared and Model 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Model fit is evidence, not a guarantee of accuracy.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model &lt;- lm(mpg ~ wt + hp, mtcars)
summary(model)$r.squared
summary(model)$adj.r.squared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06 · K1 · K2 · K5 · A1 · A3 · A4 · A6 · A7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Hypothesis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hypothesis test evaluates how compatible the observed data are with a stated null hypothesis.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Define H0/H1, choose alpha and test, compute a statistic and p-value, then decide and interpret.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'reject' or 'fail to reject' H0; do not claim that a non-significant result proves equality.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Statistical significance is not the same as practical importance.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Hypothesis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810512"/>
          <a:ext cx="7406640" cy="4242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58200" y="1810512"/>
            <a:ext cx="2999232" cy="42428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2066543"/>
            <a:ext cx="246888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READ THE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670048"/>
            <a:ext cx="2468880" cy="2423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Predefine the question and threshold before looking at the result.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5358384"/>
            <a:ext cx="24688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Native chart · editable data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06 · K1 · K2 · K5 · A1 · A3 · A4 · A6 · A7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Two-Sample t-Test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two-sample t-test compares the means of two independent groups.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Welch's test is the R default and does not assume equal variances; alternative controls two- or one-sided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a two-sided test unless a directional hypothesis was defined in advance.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Running both directions after seeing the data inflates false-positive risk.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06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Two-Sample t-Test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Report the group estimates, confidence interval and p-value.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t.test(weight ~ group, data=sleep, alternative="two.sided")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06 · K1 · K2 · K5 · A1 · A3 · A4 · A6 · A7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One-Sample t-Test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one-sample t-test evaluates whether a sample mean differs from a reference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t.test(x, mu=reference) compares the observed standardised difference with the t distribution.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when observations are independent and the distribution is reasonably compatible with the test.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large sample can make a tiny, unimportant difference statistically significant.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06 · WORKED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One-Sample t-Test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Pair the p-value with the estimated difference and interval.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505456"/>
            <a:ext cx="4773168" cy="212140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70048"/>
            <a:ext cx="4407408" cy="1792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BAE6FD"/>
                </a:solidFill>
                <a:latin typeface="Consolas"/>
              </a:rPr>
              <a:t>meatmeal &lt;- subset(chickwts, feed=="meatmeal")$weight
t.test(meatmeal, mu=160)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919472"/>
            <a:ext cx="4681728" cy="877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>
                <a:solidFill>
                  <a:srgbClr val="5B6372"/>
                </a:solidFill>
                <a:latin typeface="Arial"/>
              </a:rPr>
              <a:t>Run this pattern with the lab's own data and validate the result before interpreting it.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06 · K1 · K2 · K5 · A1 · A3 · A4 · A6 · A7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ANOVA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One-way ANOVA tests whether at least one group mean differs among three or more independent groups.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It compares between-group variation with within-group variation using an F statistic.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If significant, follow with planned contrasts or a multiple-comparison method to locate differences.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Watch out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significant ANOVA does not say every group differs from every other group.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Apply: ANOVA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810512"/>
          <a:ext cx="7406640" cy="4242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58200" y="1810512"/>
            <a:ext cx="2999232" cy="424281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2066543"/>
            <a:ext cx="246888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READ THE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670048"/>
            <a:ext cx="2468880" cy="2423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ANOVA answers an overall question; post-hoc analysis answers which groups differ.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5358384"/>
            <a:ext cx="24688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Native chart · editable data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ADVANCED · HANDS-ON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11: Descriptive Statistics, Correlation and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health analytics team studies height, weight and a numeric outcome.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validated summary, correlation result, fitted model and diagnostic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Concepts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descriptive statistics, correlation, lm, residuals, R-squared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Mapping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LO6 · K1 · K2 · A1 · A3 · A4 · A6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11: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Correlation interpretation includes direction and strength.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Model formula and prediction target are explicit.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Diagnostic evidence is included before a conclusion.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Detailed procedure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Follow the Learner Guide and labs/lab-11-descriptive-correlation-regression/README.pdf. No click-by-click steps are placed in these slides.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ADVANCED · HANDS-ON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12: Hypothesis Testing and ANOVA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health-policy team compares groups and proposes a defensible model update.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 t-test, ANOVA, post-hoc comparison and revised analysis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Concepts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H0/H1, p-value, t-test, ANOVA, diagnostics, remediation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Mapping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LO6 · K5 · A1–A10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VERIFY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12: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Every conclusion uses reject/fail-to-reject language correctly.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ANOVA conclusion does not overstate which groups differ.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The updated script reruns successfully and the audit note explains the change.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Detailed procedure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Follow the Learner Guide and labs/lab-12-hypothesis-anova-capstone/README.pdf. No click-by-click steps are placed in these slides.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K1 · K2 · K5 · A1 · A3 · A4 · A6 · A7 · A8 ·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Topic 06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Describe the central ideas in Statistical Analysis with R using precise R/statistical language.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Choose the relevant R structure, function, chart or statistical method for the question.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Validate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Check object structure, missingness, assumptions and output before interpreting.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Save the script, workbook and verification result in the matching lab folder.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1371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Install R and RStudio IDE and work confidently with scripts, the console and help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1371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Select, create, inspect and manipulate R data types and data structures.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291840"/>
            <a:ext cx="5230368" cy="1371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3291840"/>
            <a:ext cx="73152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511296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511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38144"/>
            <a:ext cx="4206240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R packages and datasets and import, validate and export external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291840"/>
            <a:ext cx="5230368" cy="1371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3291840"/>
            <a:ext cx="73152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351129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511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3438144"/>
            <a:ext cx="4206240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Create and interpret appropriate data visualisations in 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4864608"/>
            <a:ext cx="5230368" cy="1371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8" y="4864608"/>
            <a:ext cx="73152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0120" y="5084064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08406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1056" y="5010912"/>
            <a:ext cx="4206240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Write R programs using conditions, loops and reusable functions.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4864608"/>
            <a:ext cx="5230368" cy="1371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4864608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5084064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08406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77456" y="5010912"/>
            <a:ext cx="4206240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LO6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Apply descriptive statistics, correlation, regression, hypothesis testing and ANOVA in R.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LMS · 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5193792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37360"/>
            <a:ext cx="519379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48656" cy="4443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24865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DOWNLOAD COURSEWARE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the LMS course page and download the learner slides, Learner Guide and lab materials before the assessment.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718304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COMPLETE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450592"/>
            <a:ext cx="4718304" cy="34015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Take assessment attendance, complete the WA and Case Study, then upload both answer documents and sign the summary record.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FINAL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084831"/>
            <a:ext cx="1960473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32303"/>
            <a:ext cx="676656" cy="67665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60-minute 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0281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8881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38881" y="2084831"/>
            <a:ext cx="1960473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0789" y="2432303"/>
            <a:ext cx="676656" cy="67665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0789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6897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80-minute 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9354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7954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7954" y="2084831"/>
            <a:ext cx="1960473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69862" y="2432303"/>
            <a:ext cx="676656" cy="67665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9862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5970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8427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7027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7027" y="2084831"/>
            <a:ext cx="1960473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8935" y="2432303"/>
            <a:ext cx="676656" cy="6766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8935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5043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Upload on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7500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6100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6100" y="2084831"/>
            <a:ext cx="1960473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48008" y="2432303"/>
            <a:ext cx="676656" cy="67665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8008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4116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record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084831"/>
            <a:ext cx="1960473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32303"/>
            <a:ext cx="676656" cy="67665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/ SSG QR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0281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8881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38881" y="2084831"/>
            <a:ext cx="1960473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0789" y="2432303"/>
            <a:ext cx="676656" cy="67665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0789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6897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9354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7954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7954" y="2084831"/>
            <a:ext cx="1960473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69862" y="2432303"/>
            <a:ext cx="676656" cy="67665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9862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5970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 then Case Study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8427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7027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7027" y="2084831"/>
            <a:ext cx="1960473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8935" y="2432303"/>
            <a:ext cx="676656" cy="6766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8935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5043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Upload answers to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7500" y="3657599"/>
            <a:ext cx="228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6100" y="2084831"/>
            <a:ext cx="1960473" cy="34747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6100" y="2084831"/>
            <a:ext cx="1960473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48008" y="2432303"/>
            <a:ext cx="676656" cy="67665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8008" y="243230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4116" y="3364991"/>
            <a:ext cx="1704441" cy="16276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72184"/>
            <a:ext cx="10716768" cy="13716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19072"/>
            <a:ext cx="73152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938528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Assessment QR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Scan the assessment digital attendance QR before starting.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19072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19072"/>
            <a:ext cx="73152" cy="21579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93852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865376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Identity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your own Singpass/mobile device and verify the submitted record.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78224"/>
            <a:ext cx="73152" cy="21579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976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Completion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Remain until both instruments are submitted and the record is signed.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78224"/>
            <a:ext cx="5230368" cy="2157984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078224"/>
            <a:ext cx="73152" cy="21579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2976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4224528"/>
            <a:ext cx="4206240" cy="1956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Support</a:t>
            </a:r>
          </a:p>
          <a:p>
            <a:pPr algn="l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Tell the trainer immediately if the QR or submission does not work.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Build the script. Check the evidence. Explain the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106984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enquiry@tertiaryinfotech.com · +65 6100 0613 ·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698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31520"/>
            <a:ext cx="107442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 Fundamental and Statistical Analysis for Beginners · TGS-2019504058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6473952"/>
            <a:ext cx="44805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pic>
        <p:nvPicPr>
          <p:cNvPr id="10" name="Picture 9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116" y="1595628"/>
            <a:ext cx="8537463" cy="424738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49808" y="5925312"/>
            <a:ext cx="10692079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